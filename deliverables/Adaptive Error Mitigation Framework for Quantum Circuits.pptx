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Urbanist Medium"/>
      <p:regular r:id="rId23"/>
      <p:bold r:id="rId24"/>
      <p:italic r:id="rId25"/>
      <p:boldItalic r:id="rId26"/>
    </p:embeddedFont>
    <p:embeddedFont>
      <p:font typeface="Urbanist SemiBold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  <p:embeddedFont>
      <p:font typeface="Century Gothic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Kurian Uthupp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UrbanistMedium-bold.fntdata"/><Relationship Id="rId23" Type="http://schemas.openxmlformats.org/officeDocument/2006/relationships/font" Target="fonts/Urbanis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UrbanistMedium-boldItalic.fntdata"/><Relationship Id="rId25" Type="http://schemas.openxmlformats.org/officeDocument/2006/relationships/font" Target="fonts/UrbanistMedium-italic.fntdata"/><Relationship Id="rId28" Type="http://schemas.openxmlformats.org/officeDocument/2006/relationships/font" Target="fonts/UrbanistSemiBold-bold.fntdata"/><Relationship Id="rId27" Type="http://schemas.openxmlformats.org/officeDocument/2006/relationships/font" Target="fonts/UrbanistSemiBold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rbanistSemiBold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SemiBold-boldItalic.fntdata"/><Relationship Id="rId11" Type="http://schemas.openxmlformats.org/officeDocument/2006/relationships/slide" Target="slides/slide4.xml"/><Relationship Id="rId33" Type="http://schemas.openxmlformats.org/officeDocument/2006/relationships/font" Target="fonts/Urbanist-italic.fntdata"/><Relationship Id="rId10" Type="http://schemas.openxmlformats.org/officeDocument/2006/relationships/slide" Target="slides/slide3.xml"/><Relationship Id="rId32" Type="http://schemas.openxmlformats.org/officeDocument/2006/relationships/font" Target="fonts/Urbanist-bold.fntdata"/><Relationship Id="rId13" Type="http://schemas.openxmlformats.org/officeDocument/2006/relationships/slide" Target="slides/slide6.xml"/><Relationship Id="rId35" Type="http://schemas.openxmlformats.org/officeDocument/2006/relationships/font" Target="fonts/CenturyGothic-regular.fntdata"/><Relationship Id="rId12" Type="http://schemas.openxmlformats.org/officeDocument/2006/relationships/slide" Target="slides/slide5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8.xml"/><Relationship Id="rId37" Type="http://schemas.openxmlformats.org/officeDocument/2006/relationships/font" Target="fonts/CenturyGothic-italic.fntdata"/><Relationship Id="rId14" Type="http://schemas.openxmlformats.org/officeDocument/2006/relationships/slide" Target="slides/slide7.xml"/><Relationship Id="rId36" Type="http://schemas.openxmlformats.org/officeDocument/2006/relationships/font" Target="fonts/CenturyGothic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CenturyGothic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29T12:09:50.523">
    <p:pos x="1980" y="1913"/>
    <p:text>hope you have included config.py in your script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onfig.py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onfig.py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bde3b856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bde3b856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Everyone,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group 15 of the QAMP 2025. Our project explored Adaptive Error mitigation </a:t>
            </a:r>
            <a:r>
              <a:rPr lang="en"/>
              <a:t>framework for quantum circuits. In this presentation I give you guys an overview of our work for the past 3 months.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de3b856c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bde3b856c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bde3b856c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bde3b856c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we all know error mitigation </a:t>
            </a:r>
            <a:r>
              <a:rPr lang="en"/>
              <a:t>techniques</a:t>
            </a:r>
            <a:r>
              <a:rPr lang="en"/>
              <a:t> are essential for </a:t>
            </a:r>
            <a:r>
              <a:rPr lang="en"/>
              <a:t>extracting</a:t>
            </a:r>
            <a:r>
              <a:rPr lang="en"/>
              <a:t> better results from device and they have proven to be integral part of our workflow in NISQ devices.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EMs tend to reduce noise and each error mitigation </a:t>
            </a:r>
            <a:r>
              <a:rPr lang="en"/>
              <a:t>technique</a:t>
            </a:r>
            <a:r>
              <a:rPr lang="en"/>
              <a:t> is tailored towards certain device errors. Using the EMs through EstimatorOptions </a:t>
            </a:r>
            <a:r>
              <a:rPr lang="en"/>
              <a:t>although</a:t>
            </a:r>
            <a:r>
              <a:rPr lang="en"/>
              <a:t> selecting EMTech for your problem is difficult due to the hardness in estimating device noise with respect to the circuit/problem.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Therefore our idea is to build a framework that dynamically selects EMSTs based on the backend noise and the circuit properties. A crucial point to note here applying an particular EM blindly does not </a:t>
            </a:r>
            <a:r>
              <a:rPr lang="en"/>
              <a:t>guarantee</a:t>
            </a:r>
            <a:r>
              <a:rPr lang="en"/>
              <a:t> an improvement in results.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bb4606d724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bb4606d724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Currently the workflow for the module looks like this…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</a:t>
            </a:r>
            <a:r>
              <a:rPr lang="en"/>
              <a:t> take an PUB or circuit </a:t>
            </a:r>
            <a:r>
              <a:rPr lang="en"/>
              <a:t>which</a:t>
            </a:r>
            <a:r>
              <a:rPr lang="en"/>
              <a:t> is to be run using the Estimator primitive. To do this we have set the PUBs and provide EM configuration </a:t>
            </a:r>
            <a:r>
              <a:rPr lang="en"/>
              <a:t>through</a:t>
            </a:r>
            <a:r>
              <a:rPr lang="en"/>
              <a:t> the EstimatorOptions. In our </a:t>
            </a:r>
            <a:r>
              <a:rPr lang="en"/>
              <a:t>framework</a:t>
            </a:r>
            <a:r>
              <a:rPr lang="en"/>
              <a:t> we use the backend properties of the hardware along with the some circuit properties that we </a:t>
            </a:r>
            <a:r>
              <a:rPr lang="en"/>
              <a:t>extract</a:t>
            </a:r>
            <a:r>
              <a:rPr lang="en"/>
              <a:t> using the </a:t>
            </a:r>
            <a:r>
              <a:rPr lang="en"/>
              <a:t>circuit</a:t>
            </a:r>
            <a:r>
              <a:rPr lang="en"/>
              <a:t> analysis engine, calculate pre-defined </a:t>
            </a:r>
            <a:r>
              <a:rPr lang="en"/>
              <a:t>heuristics</a:t>
            </a:r>
            <a:r>
              <a:rPr lang="en"/>
              <a:t> and based on the results </a:t>
            </a:r>
            <a:r>
              <a:rPr lang="en"/>
              <a:t>configure EstimatorOptions.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adaptive Estimator is built as a transparent wrapper to Estimator class and the Circuit analysis engine and heuristics are just help in the configuration.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bb4606d724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bb4606d724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this is a wrapper we have kept the syntax easy and </a:t>
            </a:r>
            <a:r>
              <a:rPr lang="en"/>
              <a:t>similar to the Estimator primitive. Once you run the primitive you first receive a datastring in which the framework describes the the heuristics triggered and mentions their values. It also shows the threshold values that we use to decide the applicability of a heuristic. These are stored in a </a:t>
            </a:r>
            <a:r>
              <a:rPr lang="en" u="sng">
                <a:solidFill>
                  <a:schemeClr val="hlink"/>
                </a:solidFill>
                <a:hlinkClick r:id="rId2"/>
              </a:rPr>
              <a:t>config.py</a:t>
            </a:r>
            <a:r>
              <a:rPr lang="en"/>
              <a:t> files and can be changed by user in case of drifts in the device noise.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bc8b1c3d34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bc8b1c3d34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as part of the deliverables we have built a </a:t>
            </a:r>
            <a:r>
              <a:rPr lang="en"/>
              <a:t>circuit</a:t>
            </a:r>
            <a:r>
              <a:rPr lang="en"/>
              <a:t> analysis engine and </a:t>
            </a:r>
            <a:r>
              <a:rPr lang="en"/>
              <a:t>heuristic</a:t>
            </a:r>
            <a:r>
              <a:rPr lang="en"/>
              <a:t> selector. So these functions () help in extracting the circuit and hardware noise parameters.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the </a:t>
            </a:r>
            <a:r>
              <a:rPr lang="en"/>
              <a:t>heuristic</a:t>
            </a:r>
            <a:r>
              <a:rPr lang="en"/>
              <a:t> engine we have built the select_mitigation_options.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tutorials on the using our package in the github repo and we have also published a blog on medium regarding our work.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b4606d724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bb4606d724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 dive into the </a:t>
            </a:r>
            <a:r>
              <a:rPr lang="en"/>
              <a:t>heuristics</a:t>
            </a:r>
            <a:r>
              <a:rPr lang="en"/>
              <a:t> used.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three months we focused on the three error mitigation techniques. {List the EMST}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TREX we simply defined a READOUT ERROR THRESHOLD.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DD we calculate circuit density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ZNE we calculate the overall noise </a:t>
            </a:r>
            <a:r>
              <a:rPr lang="en"/>
              <a:t>sensitivity</a:t>
            </a:r>
            <a:r>
              <a:rPr lang="en"/>
              <a:t> of the circuit.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define the </a:t>
            </a:r>
            <a:r>
              <a:rPr lang="en"/>
              <a:t>threshold values for these heuristics in </a:t>
            </a:r>
            <a:r>
              <a:rPr lang="en" u="sng">
                <a:solidFill>
                  <a:schemeClr val="hlink"/>
                </a:solidFill>
                <a:hlinkClick r:id="rId2"/>
              </a:rPr>
              <a:t>config.py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bb4606d724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bb4606d724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TREX we found the method shows </a:t>
            </a:r>
            <a:r>
              <a:rPr lang="en"/>
              <a:t>performance when the max readout error for any qubit is greater than 1%.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b4606d724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b4606d724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DD we knew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bb4606d724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bb4606d724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bb4606d724_1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bb4606d724_1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bb4606d724_1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bb4606d724_1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c8b1c3d34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bc8b1c3d34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bc8b1c3d34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bc8b1c3d34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bb4606d724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bb4606d724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KurianUthuppu/adaptive_error_mitigation.gi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edium.com/@kurianuthuppu11/beyond-the-guesswork-building-an-adaptive-error-mitigation-framework-for-quantum-circuits-e67427866de6" TargetMode="External"/><Relationship Id="rId4" Type="http://schemas.openxmlformats.org/officeDocument/2006/relationships/hyperlink" Target="https://medium.com/@kurianuthuppu11/beyond-the-guesswork-building-an-adaptive-error-mitigation-framework-for-quantum-circuits-e67427866de6" TargetMode="External"/><Relationship Id="rId9" Type="http://schemas.openxmlformats.org/officeDocument/2006/relationships/image" Target="../media/image10.png"/><Relationship Id="rId5" Type="http://schemas.openxmlformats.org/officeDocument/2006/relationships/hyperlink" Target="https://medium.com/@kurianuthuppu11/beyond-the-guesswork-building-an-adaptive-error-mitigation-framework-for-quantum-circuits-e67427866de6" TargetMode="External"/><Relationship Id="rId6" Type="http://schemas.openxmlformats.org/officeDocument/2006/relationships/image" Target="../media/image19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10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Relationship Id="rId4" Type="http://schemas.openxmlformats.org/officeDocument/2006/relationships/image" Target="../media/image16.png"/><Relationship Id="rId5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3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4" name="Google Shape;484;p53"/>
          <p:cNvSpPr txBox="1"/>
          <p:nvPr>
            <p:ph type="title"/>
          </p:nvPr>
        </p:nvSpPr>
        <p:spPr>
          <a:xfrm>
            <a:off x="228600" y="228600"/>
            <a:ext cx="7540200" cy="176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Adaptive Error Mitigation Framework for Quantum Circuits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5" name="Google Shape;485;p53"/>
          <p:cNvSpPr txBox="1"/>
          <p:nvPr>
            <p:ph idx="1" type="subTitle"/>
          </p:nvPr>
        </p:nvSpPr>
        <p:spPr>
          <a:xfrm>
            <a:off x="222300" y="216630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QAMP 2025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86" name="Google Shape;486;p5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Kurian </a:t>
            </a:r>
            <a:endParaRPr/>
          </a:p>
        </p:txBody>
      </p:sp>
      <p:sp>
        <p:nvSpPr>
          <p:cNvPr id="487" name="Google Shape;487;p53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Shreyansh </a:t>
            </a:r>
            <a:endParaRPr/>
          </a:p>
        </p:txBody>
      </p:sp>
      <p:sp>
        <p:nvSpPr>
          <p:cNvPr id="488" name="Google Shape;488;p5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Issue # 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Repo </a:t>
            </a:r>
            <a:r>
              <a:rPr lang="en" u="sng">
                <a:solidFill>
                  <a:srgbClr val="CCCC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</a:t>
            </a:r>
            <a:r>
              <a:rPr lang="en"/>
              <a:t>. </a:t>
            </a:r>
            <a:endParaRPr/>
          </a:p>
        </p:txBody>
      </p:sp>
      <p:sp>
        <p:nvSpPr>
          <p:cNvPr id="490" name="Google Shape;490;p53"/>
          <p:cNvSpPr/>
          <p:nvPr/>
        </p:nvSpPr>
        <p:spPr>
          <a:xfrm>
            <a:off x="32756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1" name="Google Shape;491;p53"/>
          <p:cNvSpPr txBox="1"/>
          <p:nvPr>
            <p:ph idx="6" type="subTitle"/>
          </p:nvPr>
        </p:nvSpPr>
        <p:spPr>
          <a:xfrm>
            <a:off x="33428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Aashay  </a:t>
            </a:r>
            <a:endParaRPr/>
          </a:p>
        </p:txBody>
      </p:sp>
      <p:sp>
        <p:nvSpPr>
          <p:cNvPr id="492" name="Google Shape;492;p53"/>
          <p:cNvSpPr/>
          <p:nvPr/>
        </p:nvSpPr>
        <p:spPr>
          <a:xfrm>
            <a:off x="4832175" y="4120850"/>
            <a:ext cx="1399200" cy="338700"/>
          </a:xfrm>
          <a:prstGeom prst="roundRect">
            <a:avLst>
              <a:gd fmla="val 16667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3" name="Google Shape;493;p53"/>
          <p:cNvSpPr txBox="1"/>
          <p:nvPr>
            <p:ph idx="6" type="subTitle"/>
          </p:nvPr>
        </p:nvSpPr>
        <p:spPr>
          <a:xfrm>
            <a:off x="4899375" y="4183375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Dikshant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4"/>
          <p:cNvSpPr/>
          <p:nvPr/>
        </p:nvSpPr>
        <p:spPr>
          <a:xfrm>
            <a:off x="4618950" y="22860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9" name="Google Shape;499;p54"/>
          <p:cNvSpPr/>
          <p:nvPr/>
        </p:nvSpPr>
        <p:spPr>
          <a:xfrm>
            <a:off x="4618950" y="9063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0" name="Google Shape;500;p54"/>
          <p:cNvSpPr/>
          <p:nvPr/>
        </p:nvSpPr>
        <p:spPr>
          <a:xfrm>
            <a:off x="4618950" y="1584175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1" name="Google Shape;501;p54"/>
          <p:cNvSpPr/>
          <p:nvPr/>
        </p:nvSpPr>
        <p:spPr>
          <a:xfrm>
            <a:off x="4618950" y="2261950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2" name="Google Shape;502;p54"/>
          <p:cNvSpPr/>
          <p:nvPr/>
        </p:nvSpPr>
        <p:spPr>
          <a:xfrm>
            <a:off x="4618950" y="2939750"/>
            <a:ext cx="42966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3" name="Google Shape;503;p54"/>
          <p:cNvSpPr/>
          <p:nvPr/>
        </p:nvSpPr>
        <p:spPr>
          <a:xfrm>
            <a:off x="4618950" y="3617525"/>
            <a:ext cx="4296900" cy="605700"/>
          </a:xfrm>
          <a:prstGeom prst="roundRect">
            <a:avLst>
              <a:gd fmla="val 1699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504" name="Google Shape;504;p54"/>
          <p:cNvGrpSpPr/>
          <p:nvPr/>
        </p:nvGrpSpPr>
        <p:grpSpPr>
          <a:xfrm rot="-5400000">
            <a:off x="8556505" y="430775"/>
            <a:ext cx="204654" cy="204654"/>
            <a:chOff x="259788" y="1923155"/>
            <a:chExt cx="409800" cy="409800"/>
          </a:xfrm>
        </p:grpSpPr>
        <p:sp>
          <p:nvSpPr>
            <p:cNvPr id="505" name="Google Shape;505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06" name="Google Shape;506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07" name="Google Shape;507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8" name="Google Shape;508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09" name="Google Shape;509;p54"/>
          <p:cNvGrpSpPr/>
          <p:nvPr/>
        </p:nvGrpSpPr>
        <p:grpSpPr>
          <a:xfrm rot="-5400000">
            <a:off x="8556505" y="1108560"/>
            <a:ext cx="204654" cy="204654"/>
            <a:chOff x="259788" y="1923155"/>
            <a:chExt cx="409800" cy="409800"/>
          </a:xfrm>
        </p:grpSpPr>
        <p:sp>
          <p:nvSpPr>
            <p:cNvPr id="510" name="Google Shape;510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1" name="Google Shape;511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2" name="Google Shape;512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3" name="Google Shape;513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4" name="Google Shape;514;p54"/>
          <p:cNvGrpSpPr/>
          <p:nvPr/>
        </p:nvGrpSpPr>
        <p:grpSpPr>
          <a:xfrm rot="-5400000">
            <a:off x="8556505" y="1786345"/>
            <a:ext cx="204654" cy="204654"/>
            <a:chOff x="259788" y="1923155"/>
            <a:chExt cx="409800" cy="409800"/>
          </a:xfrm>
        </p:grpSpPr>
        <p:sp>
          <p:nvSpPr>
            <p:cNvPr id="515" name="Google Shape;515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16" name="Google Shape;516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17" name="Google Shape;517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8" name="Google Shape;518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19" name="Google Shape;519;p54"/>
          <p:cNvGrpSpPr/>
          <p:nvPr/>
        </p:nvGrpSpPr>
        <p:grpSpPr>
          <a:xfrm rot="-5400000">
            <a:off x="8556505" y="2464130"/>
            <a:ext cx="204654" cy="204654"/>
            <a:chOff x="259788" y="1923155"/>
            <a:chExt cx="409800" cy="409800"/>
          </a:xfrm>
        </p:grpSpPr>
        <p:sp>
          <p:nvSpPr>
            <p:cNvPr id="520" name="Google Shape;520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1" name="Google Shape;521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2" name="Google Shape;522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3" name="Google Shape;523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24" name="Google Shape;524;p54"/>
          <p:cNvGrpSpPr/>
          <p:nvPr/>
        </p:nvGrpSpPr>
        <p:grpSpPr>
          <a:xfrm rot="-5400000">
            <a:off x="8556505" y="3141915"/>
            <a:ext cx="204654" cy="204654"/>
            <a:chOff x="259788" y="1923155"/>
            <a:chExt cx="409800" cy="409800"/>
          </a:xfrm>
        </p:grpSpPr>
        <p:sp>
          <p:nvSpPr>
            <p:cNvPr id="525" name="Google Shape;525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26" name="Google Shape;526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27" name="Google Shape;527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28" name="Google Shape;528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29" name="Google Shape;529;p54"/>
          <p:cNvGrpSpPr/>
          <p:nvPr/>
        </p:nvGrpSpPr>
        <p:grpSpPr>
          <a:xfrm rot="-5400000">
            <a:off x="8556505" y="3819700"/>
            <a:ext cx="204654" cy="204654"/>
            <a:chOff x="259788" y="1923155"/>
            <a:chExt cx="409800" cy="409800"/>
          </a:xfrm>
        </p:grpSpPr>
        <p:sp>
          <p:nvSpPr>
            <p:cNvPr id="530" name="Google Shape;530;p54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531" name="Google Shape;531;p54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532" name="Google Shape;532;p54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3" name="Google Shape;533;p54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34" name="Google Shape;534;p54"/>
          <p:cNvSpPr txBox="1"/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535" name="Google Shape;535;p54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36" name="Google Shape;536;p54"/>
          <p:cNvSpPr txBox="1"/>
          <p:nvPr>
            <p:ph idx="5" type="subTitle"/>
          </p:nvPr>
        </p:nvSpPr>
        <p:spPr>
          <a:xfrm>
            <a:off x="4744575" y="1064088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37" name="Google Shape;537;p54"/>
          <p:cNvSpPr txBox="1"/>
          <p:nvPr>
            <p:ph idx="6" type="subTitle"/>
          </p:nvPr>
        </p:nvSpPr>
        <p:spPr>
          <a:xfrm>
            <a:off x="4744575" y="1741025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38" name="Google Shape;538;p54"/>
          <p:cNvSpPr txBox="1"/>
          <p:nvPr>
            <p:ph idx="7" type="subTitle"/>
          </p:nvPr>
        </p:nvSpPr>
        <p:spPr>
          <a:xfrm>
            <a:off x="4744575" y="24223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539" name="Google Shape;539;p54"/>
          <p:cNvSpPr txBox="1"/>
          <p:nvPr>
            <p:ph idx="8" type="subTitle"/>
          </p:nvPr>
        </p:nvSpPr>
        <p:spPr>
          <a:xfrm>
            <a:off x="4744575" y="3096606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540" name="Google Shape;540;p54"/>
          <p:cNvSpPr txBox="1"/>
          <p:nvPr>
            <p:ph idx="9" type="subTitle"/>
          </p:nvPr>
        </p:nvSpPr>
        <p:spPr>
          <a:xfrm>
            <a:off x="4744575" y="3770931"/>
            <a:ext cx="3225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541" name="Google Shape;541;p54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542" name="Google Shape;542;p54"/>
          <p:cNvSpPr txBox="1"/>
          <p:nvPr>
            <p:ph idx="14" type="subTitle"/>
          </p:nvPr>
        </p:nvSpPr>
        <p:spPr>
          <a:xfrm>
            <a:off x="5067075" y="1064088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Adaptive Estimator Framework</a:t>
            </a:r>
            <a:endParaRPr/>
          </a:p>
        </p:txBody>
      </p:sp>
      <p:sp>
        <p:nvSpPr>
          <p:cNvPr id="543" name="Google Shape;543;p54"/>
          <p:cNvSpPr txBox="1"/>
          <p:nvPr>
            <p:ph idx="15" type="subTitle"/>
          </p:nvPr>
        </p:nvSpPr>
        <p:spPr>
          <a:xfrm>
            <a:off x="5067075" y="1741025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TREX</a:t>
            </a:r>
            <a:endParaRPr/>
          </a:p>
        </p:txBody>
      </p:sp>
      <p:sp>
        <p:nvSpPr>
          <p:cNvPr id="544" name="Google Shape;544;p54"/>
          <p:cNvSpPr txBox="1"/>
          <p:nvPr>
            <p:ph idx="16" type="subTitle"/>
          </p:nvPr>
        </p:nvSpPr>
        <p:spPr>
          <a:xfrm>
            <a:off x="5067075" y="24223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Dynamical Decoupling</a:t>
            </a:r>
            <a:endParaRPr/>
          </a:p>
        </p:txBody>
      </p:sp>
      <p:sp>
        <p:nvSpPr>
          <p:cNvPr id="545" name="Google Shape;545;p54"/>
          <p:cNvSpPr txBox="1"/>
          <p:nvPr>
            <p:ph idx="17" type="subTitle"/>
          </p:nvPr>
        </p:nvSpPr>
        <p:spPr>
          <a:xfrm>
            <a:off x="5067075" y="3096606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Zero Noise Extrapolation </a:t>
            </a:r>
            <a:endParaRPr/>
          </a:p>
        </p:txBody>
      </p:sp>
      <p:sp>
        <p:nvSpPr>
          <p:cNvPr id="546" name="Google Shape;546;p54"/>
          <p:cNvSpPr txBox="1"/>
          <p:nvPr>
            <p:ph idx="18" type="subTitle"/>
          </p:nvPr>
        </p:nvSpPr>
        <p:spPr>
          <a:xfrm>
            <a:off x="5067075" y="3770931"/>
            <a:ext cx="3267600" cy="28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Results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5"/>
          <p:cNvSpPr txBox="1"/>
          <p:nvPr>
            <p:ph type="title"/>
          </p:nvPr>
        </p:nvSpPr>
        <p:spPr>
          <a:xfrm>
            <a:off x="343400" y="228600"/>
            <a:ext cx="44616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552" name="Google Shape;552;p55"/>
          <p:cNvSpPr txBox="1"/>
          <p:nvPr/>
        </p:nvSpPr>
        <p:spPr>
          <a:xfrm>
            <a:off x="343400" y="1137850"/>
            <a:ext cx="6470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Error mitigation is essential for better results in the Noisy Intermediate-Scale Quantum (NISQ) era.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Existing mitigation techniques target specific noise types and lack a single, generalized effectiveness.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Users currently need prior knowledge to select and assess the benefit of a method for a given circuit.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Goal 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 framework that dynamically selects optimal Error Mitigation and Suppression Techniques.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6"/>
          <p:cNvSpPr txBox="1"/>
          <p:nvPr>
            <p:ph type="title"/>
          </p:nvPr>
        </p:nvSpPr>
        <p:spPr>
          <a:xfrm>
            <a:off x="343400" y="22860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Adaptive Estimator Framework</a:t>
            </a:r>
            <a:endParaRPr/>
          </a:p>
        </p:txBody>
      </p:sp>
      <p:sp>
        <p:nvSpPr>
          <p:cNvPr id="558" name="Google Shape;558;p56"/>
          <p:cNvSpPr txBox="1"/>
          <p:nvPr/>
        </p:nvSpPr>
        <p:spPr>
          <a:xfrm>
            <a:off x="343400" y="765900"/>
            <a:ext cx="620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 transparent wrapper to </a:t>
            </a:r>
            <a:r>
              <a:rPr lang="en" sz="1200">
                <a:solidFill>
                  <a:srgbClr val="6AA84F"/>
                </a:solidFill>
                <a:latin typeface="Urbanist"/>
                <a:ea typeface="Urbanist"/>
                <a:cs typeface="Urbanist"/>
                <a:sym typeface="Urbanist"/>
              </a:rPr>
              <a:t>Estimator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automatically configuring </a:t>
            </a:r>
            <a:r>
              <a:rPr lang="en" sz="1200">
                <a:solidFill>
                  <a:srgbClr val="6AA84F"/>
                </a:solidFill>
                <a:latin typeface="Urbanist"/>
                <a:ea typeface="Urbanist"/>
                <a:cs typeface="Urbanist"/>
                <a:sym typeface="Urbanist"/>
              </a:rPr>
              <a:t>EstimatorOptions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based on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heuristics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9" name="Google Shape;559;p56"/>
          <p:cNvSpPr/>
          <p:nvPr/>
        </p:nvSpPr>
        <p:spPr>
          <a:xfrm>
            <a:off x="343400" y="2960100"/>
            <a:ext cx="1721100" cy="8445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Transpiled Quantum Circuit or PUBs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0" name="Google Shape;560;p56"/>
          <p:cNvSpPr/>
          <p:nvPr/>
        </p:nvSpPr>
        <p:spPr>
          <a:xfrm>
            <a:off x="3143250" y="3036900"/>
            <a:ext cx="1532700" cy="69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Heuristics </a:t>
            </a: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Decision Engine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1" name="Google Shape;561;p56"/>
          <p:cNvSpPr/>
          <p:nvPr/>
        </p:nvSpPr>
        <p:spPr>
          <a:xfrm>
            <a:off x="6372700" y="2898450"/>
            <a:ext cx="2427900" cy="6909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EstimatorOptions</a:t>
            </a: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2" name="Google Shape;562;p56"/>
          <p:cNvSpPr/>
          <p:nvPr/>
        </p:nvSpPr>
        <p:spPr>
          <a:xfrm>
            <a:off x="3154650" y="1714725"/>
            <a:ext cx="1509900" cy="69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Circuit Analysis Engine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3" name="Google Shape;563;p56"/>
          <p:cNvSpPr/>
          <p:nvPr/>
        </p:nvSpPr>
        <p:spPr>
          <a:xfrm>
            <a:off x="6372700" y="1895400"/>
            <a:ext cx="2427900" cy="69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Estimator 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4" name="Google Shape;564;p56"/>
          <p:cNvSpPr/>
          <p:nvPr/>
        </p:nvSpPr>
        <p:spPr>
          <a:xfrm>
            <a:off x="6123850" y="1714838"/>
            <a:ext cx="2925600" cy="2157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65" name="Google Shape;565;p56"/>
          <p:cNvCxnSpPr>
            <a:stCxn id="559" idx="3"/>
            <a:endCxn id="562" idx="1"/>
          </p:cNvCxnSpPr>
          <p:nvPr/>
        </p:nvCxnSpPr>
        <p:spPr>
          <a:xfrm flipH="1" rot="10800000">
            <a:off x="2064500" y="2060250"/>
            <a:ext cx="1090200" cy="13221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6" name="Google Shape;566;p56"/>
          <p:cNvCxnSpPr>
            <a:stCxn id="559" idx="2"/>
            <a:endCxn id="564" idx="2"/>
          </p:cNvCxnSpPr>
          <p:nvPr/>
        </p:nvCxnSpPr>
        <p:spPr>
          <a:xfrm flipH="1" rot="-5400000">
            <a:off x="4361750" y="646800"/>
            <a:ext cx="67200" cy="6382800"/>
          </a:xfrm>
          <a:prstGeom prst="bentConnector3">
            <a:avLst>
              <a:gd fmla="val 454408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567" name="Google Shape;567;p56"/>
          <p:cNvSpPr txBox="1"/>
          <p:nvPr/>
        </p:nvSpPr>
        <p:spPr>
          <a:xfrm>
            <a:off x="6313750" y="1412400"/>
            <a:ext cx="2545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AdaptiveEstimator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8" name="Google Shape;568;p56"/>
          <p:cNvSpPr/>
          <p:nvPr/>
        </p:nvSpPr>
        <p:spPr>
          <a:xfrm>
            <a:off x="270625" y="1637925"/>
            <a:ext cx="1721100" cy="8445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BackendProperties</a:t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69" name="Google Shape;569;p56"/>
          <p:cNvCxnSpPr>
            <a:stCxn id="562" idx="2"/>
            <a:endCxn id="560" idx="0"/>
          </p:cNvCxnSpPr>
          <p:nvPr/>
        </p:nvCxnSpPr>
        <p:spPr>
          <a:xfrm>
            <a:off x="3909600" y="2405625"/>
            <a:ext cx="0" cy="63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0" name="Google Shape;570;p56"/>
          <p:cNvCxnSpPr>
            <a:stCxn id="560" idx="3"/>
            <a:endCxn id="564" idx="1"/>
          </p:cNvCxnSpPr>
          <p:nvPr/>
        </p:nvCxnSpPr>
        <p:spPr>
          <a:xfrm flipH="1" rot="10800000">
            <a:off x="4675950" y="2793450"/>
            <a:ext cx="1447800" cy="5889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56"/>
          <p:cNvCxnSpPr>
            <a:stCxn id="568" idx="3"/>
            <a:endCxn id="562" idx="1"/>
          </p:cNvCxnSpPr>
          <p:nvPr/>
        </p:nvCxnSpPr>
        <p:spPr>
          <a:xfrm>
            <a:off x="1991725" y="2060175"/>
            <a:ext cx="1162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7"/>
          <p:cNvSpPr txBox="1"/>
          <p:nvPr>
            <p:ph type="title"/>
          </p:nvPr>
        </p:nvSpPr>
        <p:spPr>
          <a:xfrm>
            <a:off x="343400" y="22860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</a:t>
            </a:r>
            <a:endParaRPr/>
          </a:p>
        </p:txBody>
      </p:sp>
      <p:sp>
        <p:nvSpPr>
          <p:cNvPr id="577" name="Google Shape;577;p57"/>
          <p:cNvSpPr txBox="1"/>
          <p:nvPr/>
        </p:nvSpPr>
        <p:spPr>
          <a:xfrm>
            <a:off x="343400" y="765900"/>
            <a:ext cx="47328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Urbanist"/>
                <a:ea typeface="Urbanist"/>
                <a:cs typeface="Urbanist"/>
                <a:sym typeface="Urbanist"/>
              </a:rPr>
              <a:t>from </a:t>
            </a:r>
            <a:r>
              <a:rPr lang="en" sz="1200">
                <a:solidFill>
                  <a:srgbClr val="6AA84F"/>
                </a:solidFill>
                <a:latin typeface="Urbanist"/>
                <a:ea typeface="Urbanist"/>
                <a:cs typeface="Urbanist"/>
                <a:sym typeface="Urbanist"/>
              </a:rPr>
              <a:t>adaptive_error_mitigation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" sz="1200">
                <a:solidFill>
                  <a:schemeClr val="accent6"/>
                </a:solidFill>
                <a:latin typeface="Urbanist"/>
                <a:ea typeface="Urbanist"/>
                <a:cs typeface="Urbanist"/>
                <a:sym typeface="Urbanist"/>
              </a:rPr>
              <a:t>import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" sz="1200">
                <a:solidFill>
                  <a:srgbClr val="6AA84F"/>
                </a:solidFill>
                <a:latin typeface="Urbanist"/>
                <a:ea typeface="Urbanist"/>
                <a:cs typeface="Urbanist"/>
                <a:sym typeface="Urbanist"/>
              </a:rPr>
              <a:t>adaptive_estimator</a:t>
            </a:r>
            <a:endParaRPr sz="1200">
              <a:solidFill>
                <a:srgbClr val="B6D7A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25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adapt_results</a:t>
            </a:r>
            <a:r>
              <a:rPr lang="en" sz="1200">
                <a:solidFill>
                  <a:schemeClr val="accent6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</a:t>
            </a:r>
            <a:r>
              <a:rPr lang="en" sz="1200">
                <a:solidFill>
                  <a:schemeClr val="accent6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" sz="1200">
                <a:solidFill>
                  <a:srgbClr val="6AA84F"/>
                </a:solidFill>
                <a:latin typeface="Urbanist"/>
                <a:ea typeface="Urbanist"/>
                <a:cs typeface="Urbanist"/>
                <a:sym typeface="Urbanist"/>
              </a:rPr>
              <a:t>adaptive_estimator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.run(pubs, backend=backend)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78" name="Google Shape;57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00" y="1521900"/>
            <a:ext cx="661035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8"/>
          <p:cNvSpPr txBox="1"/>
          <p:nvPr>
            <p:ph type="title"/>
          </p:nvPr>
        </p:nvSpPr>
        <p:spPr>
          <a:xfrm>
            <a:off x="343400" y="22860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584" name="Google Shape;584;p58"/>
          <p:cNvSpPr txBox="1"/>
          <p:nvPr/>
        </p:nvSpPr>
        <p:spPr>
          <a:xfrm>
            <a:off x="343400" y="901600"/>
            <a:ext cx="8726100" cy="36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Circuit Analysis Engine.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8761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8761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8761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8761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Adaptive Estimator In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tegration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Documentation and </a:t>
            </a:r>
            <a:r>
              <a:rPr lang="en" sz="1200">
                <a:solidFill>
                  <a:srgbClr val="6D9EEB"/>
                </a:solidFill>
                <a:uFill>
                  <a:noFill/>
                </a:u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r>
              <a:rPr lang="en" sz="1200" u="sng">
                <a:solidFill>
                  <a:srgbClr val="6D9EEB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200">
                <a:solidFill>
                  <a:srgbClr val="6D9EEB"/>
                </a:solidFill>
                <a:uFill>
                  <a:noFill/>
                </a:uFill>
                <a:latin typeface="Urbanist"/>
                <a:ea typeface="Urbanist"/>
                <a:cs typeface="Urbanist"/>
                <a:sym typeface="Urbanis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Publication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85" name="Google Shape;585;p58"/>
          <p:cNvPicPr preferRelativeResize="0"/>
          <p:nvPr/>
        </p:nvPicPr>
        <p:blipFill rotWithShape="1">
          <a:blip r:embed="rId6">
            <a:alphaModFix/>
          </a:blip>
          <a:srcRect b="73053" l="0" r="23047" t="0"/>
          <a:stretch/>
        </p:blipFill>
        <p:spPr>
          <a:xfrm>
            <a:off x="422438" y="2571750"/>
            <a:ext cx="4002525" cy="7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525" y="1264000"/>
            <a:ext cx="4033425" cy="61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5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24924" y="1264000"/>
            <a:ext cx="4390351" cy="30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58"/>
          <p:cNvPicPr preferRelativeResize="0"/>
          <p:nvPr/>
        </p:nvPicPr>
        <p:blipFill rotWithShape="1">
          <a:blip r:embed="rId9">
            <a:alphaModFix/>
          </a:blip>
          <a:srcRect b="6261" l="0" r="0" t="0"/>
          <a:stretch/>
        </p:blipFill>
        <p:spPr>
          <a:xfrm>
            <a:off x="4481525" y="1543025"/>
            <a:ext cx="4191300" cy="6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86713" y="3189475"/>
            <a:ext cx="3454666" cy="12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9"/>
          <p:cNvSpPr txBox="1"/>
          <p:nvPr>
            <p:ph type="title"/>
          </p:nvPr>
        </p:nvSpPr>
        <p:spPr>
          <a:xfrm>
            <a:off x="343400" y="22860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Heuristics</a:t>
            </a:r>
            <a:r>
              <a:rPr lang="en"/>
              <a:t> </a:t>
            </a:r>
            <a:endParaRPr/>
          </a:p>
        </p:txBody>
      </p:sp>
      <p:sp>
        <p:nvSpPr>
          <p:cNvPr id="595" name="Google Shape;595;p59"/>
          <p:cNvSpPr txBox="1"/>
          <p:nvPr/>
        </p:nvSpPr>
        <p:spPr>
          <a:xfrm>
            <a:off x="434700" y="997700"/>
            <a:ext cx="7793100" cy="1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Twirled Readout Error Extinction (TREX)                          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READOUT_ERROR_THRESHOLD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    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Dynamical Decoupling (DD)          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                                              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Zero-Noise Extrapolation (ZNE)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96" name="Google Shape;59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750" y="1801500"/>
            <a:ext cx="3539174" cy="89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9425" y="2935375"/>
            <a:ext cx="3947827" cy="9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0"/>
          <p:cNvSpPr txBox="1"/>
          <p:nvPr>
            <p:ph type="title"/>
          </p:nvPr>
        </p:nvSpPr>
        <p:spPr>
          <a:xfrm>
            <a:off x="343400" y="22860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TREX</a:t>
            </a:r>
            <a:endParaRPr/>
          </a:p>
        </p:txBody>
      </p:sp>
      <p:sp>
        <p:nvSpPr>
          <p:cNvPr id="603" name="Google Shape;603;p60"/>
          <p:cNvSpPr txBox="1"/>
          <p:nvPr/>
        </p:nvSpPr>
        <p:spPr>
          <a:xfrm>
            <a:off x="458425" y="1016400"/>
            <a:ext cx="8301600" cy="27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Mitigates Readout error.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Enable readout twirling if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READOUT_ERROR_THRESHOLD ( 1% ) is exceeded for any active qubits in the circuit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04" name="Google Shape;60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850" y="1698075"/>
            <a:ext cx="5286276" cy="1116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60"/>
          <p:cNvSpPr txBox="1"/>
          <p:nvPr/>
        </p:nvSpPr>
        <p:spPr>
          <a:xfrm>
            <a:off x="228600" y="4492325"/>
            <a:ext cx="35205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Images Credits: IBM Quantum Platform</a:t>
            </a:r>
            <a:endParaRPr sz="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1"/>
          <p:cNvSpPr txBox="1"/>
          <p:nvPr>
            <p:ph type="title"/>
          </p:nvPr>
        </p:nvSpPr>
        <p:spPr>
          <a:xfrm>
            <a:off x="343400" y="22860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Dynamical Decoupling</a:t>
            </a:r>
            <a:endParaRPr/>
          </a:p>
        </p:txBody>
      </p:sp>
      <p:sp>
        <p:nvSpPr>
          <p:cNvPr id="611" name="Google Shape;611;p61"/>
          <p:cNvSpPr txBox="1"/>
          <p:nvPr/>
        </p:nvSpPr>
        <p:spPr>
          <a:xfrm>
            <a:off x="402400" y="849175"/>
            <a:ext cx="7956300" cy="2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Mitigates unwanted crosstalks between qubits during idle time.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Scheduling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is important. We fix ALAP as the default scheduling method. 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DD works best in low gate error regime with long idle times.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12" name="Google Shape;61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12" y="2515600"/>
            <a:ext cx="3539174" cy="89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6000" y="2001525"/>
            <a:ext cx="5026450" cy="22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2"/>
          <p:cNvSpPr txBox="1"/>
          <p:nvPr>
            <p:ph type="title"/>
          </p:nvPr>
        </p:nvSpPr>
        <p:spPr>
          <a:xfrm>
            <a:off x="343400" y="22860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Zero-Noise Extrapolation</a:t>
            </a:r>
            <a:endParaRPr/>
          </a:p>
        </p:txBody>
      </p:sp>
      <p:sp>
        <p:nvSpPr>
          <p:cNvPr id="619" name="Google Shape;619;p62"/>
          <p:cNvSpPr txBox="1"/>
          <p:nvPr/>
        </p:nvSpPr>
        <p:spPr>
          <a:xfrm>
            <a:off x="365050" y="979900"/>
            <a:ext cx="7377300" cy="9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Mitigates noise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through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extrapolation of output (observable estimate) to zero noise.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Noise amplification through gate folding.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20" name="Google Shape;62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50" y="1948250"/>
            <a:ext cx="4225777" cy="102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0877" y="1501950"/>
            <a:ext cx="3347890" cy="29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3"/>
          <p:cNvSpPr txBox="1"/>
          <p:nvPr>
            <p:ph type="title"/>
          </p:nvPr>
        </p:nvSpPr>
        <p:spPr>
          <a:xfrm>
            <a:off x="343400" y="18855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627" name="Google Shape;627;p63" title="adaptive_comparison_effSU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013" y="725850"/>
            <a:ext cx="6927980" cy="395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64"/>
          <p:cNvSpPr txBox="1"/>
          <p:nvPr>
            <p:ph type="title"/>
          </p:nvPr>
        </p:nvSpPr>
        <p:spPr>
          <a:xfrm>
            <a:off x="333775" y="16160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633" name="Google Shape;633;p64" title="adaptive_comparison_GHZ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725" y="638425"/>
            <a:ext cx="7090798" cy="40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5"/>
          <p:cNvSpPr txBox="1"/>
          <p:nvPr>
            <p:ph type="title"/>
          </p:nvPr>
        </p:nvSpPr>
        <p:spPr>
          <a:xfrm>
            <a:off x="343400" y="22860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639" name="Google Shape;639;p65"/>
          <p:cNvSpPr txBox="1"/>
          <p:nvPr/>
        </p:nvSpPr>
        <p:spPr>
          <a:xfrm>
            <a:off x="444425" y="765900"/>
            <a:ext cx="7928400" cy="3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Occurrence of unlikely large estimation values.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Oscillations in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error for &lt;Z</a:t>
            </a:r>
            <a:r>
              <a:rPr baseline="30000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⛒n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&gt; wrt to ideal value for GHZ circuits.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oscillations are primarily due to readout errors.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40" name="Google Shape;640;p65"/>
          <p:cNvPicPr preferRelativeResize="0"/>
          <p:nvPr/>
        </p:nvPicPr>
        <p:blipFill rotWithShape="1">
          <a:blip r:embed="rId3">
            <a:alphaModFix/>
          </a:blip>
          <a:srcRect b="5653" l="0" r="3901" t="3889"/>
          <a:stretch/>
        </p:blipFill>
        <p:spPr>
          <a:xfrm>
            <a:off x="541925" y="1136538"/>
            <a:ext cx="615315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0087" y="2218775"/>
            <a:ext cx="3380023" cy="23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66"/>
          <p:cNvSpPr txBox="1"/>
          <p:nvPr>
            <p:ph type="title"/>
          </p:nvPr>
        </p:nvSpPr>
        <p:spPr>
          <a:xfrm>
            <a:off x="459775" y="35915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647" name="Google Shape;647;p66"/>
          <p:cNvSpPr txBox="1"/>
          <p:nvPr/>
        </p:nvSpPr>
        <p:spPr>
          <a:xfrm>
            <a:off x="459775" y="1099000"/>
            <a:ext cx="71775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Refine the heuristics for the 50–100 qubit range.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Benchmarking over complex circuits.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7"/>
          <p:cNvSpPr txBox="1"/>
          <p:nvPr>
            <p:ph type="title"/>
          </p:nvPr>
        </p:nvSpPr>
        <p:spPr>
          <a:xfrm>
            <a:off x="459775" y="359150"/>
            <a:ext cx="6550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53" name="Google Shape;653;p67"/>
          <p:cNvSpPr txBox="1"/>
          <p:nvPr/>
        </p:nvSpPr>
        <p:spPr>
          <a:xfrm>
            <a:off x="228602" y="1048875"/>
            <a:ext cx="30330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Special Mention :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Dikshant Dulal (Mentor), Founder at ISSAQ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IBM Quantum Support Team (Daito)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54" name="Google Shape;654;p67" title="WhatsApp Image 2026-02-04 at 10.08.27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850" y="995823"/>
            <a:ext cx="1473625" cy="165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67" title="KurianU_Pic_R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7600" y="1048863"/>
            <a:ext cx="1547337" cy="1547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67" title="WhatsApp_Image_2026-02-03_at_16.33.19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4875" y="1027813"/>
            <a:ext cx="1547352" cy="1547352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7"/>
          <p:cNvSpPr txBox="1"/>
          <p:nvPr/>
        </p:nvSpPr>
        <p:spPr>
          <a:xfrm>
            <a:off x="3244825" y="2772675"/>
            <a:ext cx="1473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Aashay Pandharpatte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Knowledge Associate CDAC Pune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8" name="Google Shape;658;p67"/>
          <p:cNvSpPr txBox="1"/>
          <p:nvPr/>
        </p:nvSpPr>
        <p:spPr>
          <a:xfrm>
            <a:off x="5074475" y="2772675"/>
            <a:ext cx="14736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Kurian Uthuppu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Senior Project Manager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Tecnotree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Corporation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9" name="Google Shape;659;p67"/>
          <p:cNvSpPr txBox="1"/>
          <p:nvPr/>
        </p:nvSpPr>
        <p:spPr>
          <a:xfrm>
            <a:off x="7011750" y="2772675"/>
            <a:ext cx="15474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Shreyansh Agarwal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Student BS Physics,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IIT Jodhpur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